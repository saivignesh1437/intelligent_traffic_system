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Relationship Id="rId3" Type="http://schemas.openxmlformats.org/officeDocument/2006/relationships/image" Target="../media/image2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227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Oval 3"/>
          <p:cNvSpPr/>
          <p:nvPr/>
        </p:nvSpPr>
        <p:spPr>
          <a:xfrm>
            <a:off x="9738359" y="1142999"/>
            <a:ext cx="640081" cy="640082"/>
          </a:xfrm>
          <a:prstGeom prst="ellipse">
            <a:avLst/>
          </a:prstGeom>
          <a:solidFill>
            <a:srgbClr val="DA45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Oval 4"/>
          <p:cNvSpPr/>
          <p:nvPr/>
        </p:nvSpPr>
        <p:spPr>
          <a:xfrm>
            <a:off x="9738359" y="2285999"/>
            <a:ext cx="640081" cy="640082"/>
          </a:xfrm>
          <a:prstGeom prst="ellipse">
            <a:avLst/>
          </a:prstGeom>
          <a:solidFill>
            <a:srgbClr val="F5BE3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Oval 5"/>
          <p:cNvSpPr/>
          <p:nvPr/>
        </p:nvSpPr>
        <p:spPr>
          <a:xfrm>
            <a:off x="9738359" y="3428999"/>
            <a:ext cx="640081" cy="640082"/>
          </a:xfrm>
          <a:prstGeom prst="ellipse">
            <a:avLst/>
          </a:prstGeom>
          <a:solidFill>
            <a:srgbClr val="2CA8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Rounded Rectangle 6"/>
          <p:cNvSpPr/>
          <p:nvPr/>
        </p:nvSpPr>
        <p:spPr>
          <a:xfrm>
            <a:off x="9528047" y="932688"/>
            <a:ext cx="1051561" cy="3703321"/>
          </a:xfrm>
          <a:prstGeom prst="roundRect">
            <a:avLst>
              <a:gd name="adj" fmla="val 16667"/>
            </a:avLst>
          </a:prstGeom>
          <a:solidFill>
            <a:srgbClr val="2A3949"/>
          </a:solidFill>
          <a:ln>
            <a:solidFill>
              <a:srgbClr val="4B5F7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7"/>
          <p:cNvSpPr txBox="1"/>
          <p:nvPr/>
        </p:nvSpPr>
        <p:spPr>
          <a:xfrm>
            <a:off x="525622" y="905764"/>
            <a:ext cx="7692057" cy="1343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defRPr sz="41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t>INTELLIGENT TRAFFIC SIGNAL</a:t>
            </a:r>
          </a:p>
          <a:p>
            <a:pPr>
              <a:defRPr sz="41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pPr>
            <a:r>
              <a:t> CONTROLLER</a:t>
            </a:r>
          </a:p>
        </p:txBody>
      </p:sp>
      <p:sp>
        <p:nvSpPr>
          <p:cNvPr id="100" name="TextBox 8"/>
          <p:cNvSpPr txBox="1"/>
          <p:nvPr/>
        </p:nvSpPr>
        <p:spPr>
          <a:xfrm>
            <a:off x="548505" y="2463418"/>
            <a:ext cx="7955280" cy="377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000">
                <a:solidFill>
                  <a:srgbClr val="AAE0D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With Pedestrian Input &amp; Emergency Override</a:t>
            </a:r>
          </a:p>
        </p:txBody>
      </p:sp>
      <p:sp>
        <p:nvSpPr>
          <p:cNvPr id="101" name="TextBox 9"/>
          <p:cNvSpPr txBox="1"/>
          <p:nvPr/>
        </p:nvSpPr>
        <p:spPr>
          <a:xfrm>
            <a:off x="502785" y="3284474"/>
            <a:ext cx="8046720" cy="28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400">
                <a:solidFill>
                  <a:srgbClr val="DCE6E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Embedded Systems Design (ESD) &amp; Internet of Things (25EC2206E)</a:t>
            </a:r>
          </a:p>
        </p:txBody>
      </p:sp>
      <p:sp>
        <p:nvSpPr>
          <p:cNvPr id="102" name="TextBox 10"/>
          <p:cNvSpPr txBox="1"/>
          <p:nvPr/>
        </p:nvSpPr>
        <p:spPr>
          <a:xfrm>
            <a:off x="542861" y="3879936"/>
            <a:ext cx="8229601" cy="25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BECCD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NUCLEO-F103RB  •  GPIO  •  TIM2  •  EXTI/NVIC  •  UART</a:t>
            </a:r>
          </a:p>
        </p:txBody>
      </p:sp>
      <p:sp>
        <p:nvSpPr>
          <p:cNvPr id="103" name="TextBox 11"/>
          <p:cNvSpPr txBox="1"/>
          <p:nvPr/>
        </p:nvSpPr>
        <p:spPr>
          <a:xfrm>
            <a:off x="517112" y="4437298"/>
            <a:ext cx="8503921" cy="2123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Team members :</a:t>
            </a:r>
          </a:p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251008001 - Yeswanth</a:t>
            </a:r>
          </a:p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2510080012 - Sai Vignesh </a:t>
            </a:r>
          </a:p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2510080022 - Niharika </a:t>
            </a:r>
          </a:p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2510080049 - Tejaswini</a:t>
            </a:r>
          </a:p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2510080054 - Krithik Reddy </a:t>
            </a:r>
          </a:p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2510080011 - Srujan Reddy</a:t>
            </a:r>
          </a:p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2510080056 - Ruthvik Yerram </a:t>
            </a:r>
          </a:p>
        </p:txBody>
      </p:sp>
      <p:sp>
        <p:nvSpPr>
          <p:cNvPr id="104" name="TextBox 12"/>
          <p:cNvSpPr txBox="1"/>
          <p:nvPr/>
        </p:nvSpPr>
        <p:spPr>
          <a:xfrm>
            <a:off x="9144000" y="6172199"/>
            <a:ext cx="2286000" cy="225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b="1" sz="1000">
                <a:solidFill>
                  <a:srgbClr val="BECCD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KLEF  |  AI &amp; DS</a:t>
            </a:r>
          </a:p>
        </p:txBody>
      </p:sp>
      <p:sp>
        <p:nvSpPr>
          <p:cNvPr id="105" name="Circle"/>
          <p:cNvSpPr/>
          <p:nvPr/>
        </p:nvSpPr>
        <p:spPr>
          <a:xfrm>
            <a:off x="9598065" y="1170064"/>
            <a:ext cx="920670" cy="908217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Circle"/>
          <p:cNvSpPr/>
          <p:nvPr/>
        </p:nvSpPr>
        <p:spPr>
          <a:xfrm>
            <a:off x="9598065" y="3441699"/>
            <a:ext cx="920670" cy="908218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Circle"/>
          <p:cNvSpPr/>
          <p:nvPr/>
        </p:nvSpPr>
        <p:spPr>
          <a:xfrm>
            <a:off x="9598065" y="2305882"/>
            <a:ext cx="920670" cy="908217"/>
          </a:xfrm>
          <a:prstGeom prst="ellipse">
            <a:avLst/>
          </a:prstGeom>
          <a:solidFill>
            <a:srgbClr val="F4B23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6F9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2"/>
          <p:cNvSpPr txBox="1"/>
          <p:nvPr/>
        </p:nvSpPr>
        <p:spPr>
          <a:xfrm>
            <a:off x="502919" y="256031"/>
            <a:ext cx="8686801" cy="212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900">
                <a:solidFill>
                  <a:srgbClr val="199C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INTELLIGENT TRAFFIC SIGNAL CONTROLLER</a:t>
            </a:r>
          </a:p>
        </p:txBody>
      </p:sp>
      <p:sp>
        <p:nvSpPr>
          <p:cNvPr id="111" name="TextBox 3"/>
          <p:cNvSpPr txBox="1"/>
          <p:nvPr/>
        </p:nvSpPr>
        <p:spPr>
          <a:xfrm>
            <a:off x="502919" y="566927"/>
            <a:ext cx="11064242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Problem Statement &amp; Objectives</a:t>
            </a:r>
          </a:p>
        </p:txBody>
      </p:sp>
      <p:sp>
        <p:nvSpPr>
          <p:cNvPr id="112" name="Rectangle 4"/>
          <p:cNvSpPr/>
          <p:nvPr/>
        </p:nvSpPr>
        <p:spPr>
          <a:xfrm>
            <a:off x="502919" y="1170432"/>
            <a:ext cx="960121" cy="50293"/>
          </a:xfrm>
          <a:prstGeom prst="rect">
            <a:avLst/>
          </a:prstGeom>
          <a:solidFill>
            <a:srgbClr val="199C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TextBox 5"/>
          <p:cNvSpPr txBox="1"/>
          <p:nvPr/>
        </p:nvSpPr>
        <p:spPr>
          <a:xfrm>
            <a:off x="502919" y="6537959"/>
            <a:ext cx="5486401" cy="200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8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ESD &amp; IoT  •  Project Based Learning</a:t>
            </a:r>
          </a:p>
        </p:txBody>
      </p:sp>
      <p:sp>
        <p:nvSpPr>
          <p:cNvPr id="114" name="TextBox 6"/>
          <p:cNvSpPr txBox="1"/>
          <p:nvPr/>
        </p:nvSpPr>
        <p:spPr>
          <a:xfrm>
            <a:off x="11109959" y="6510528"/>
            <a:ext cx="502920" cy="212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b="1" sz="9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15" name="TextBox 7"/>
          <p:cNvSpPr txBox="1"/>
          <p:nvPr/>
        </p:nvSpPr>
        <p:spPr>
          <a:xfrm>
            <a:off x="640079" y="1417319"/>
            <a:ext cx="10698482" cy="682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0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traffic controller must sequence signals safely while responding to asynchronous inputs.</a:t>
            </a:r>
          </a:p>
        </p:txBody>
      </p:sp>
      <p:sp>
        <p:nvSpPr>
          <p:cNvPr id="116" name="Rounded Rectangle 8"/>
          <p:cNvSpPr/>
          <p:nvPr/>
        </p:nvSpPr>
        <p:spPr>
          <a:xfrm>
            <a:off x="640080" y="2148839"/>
            <a:ext cx="3474721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Rectangle 9"/>
          <p:cNvSpPr/>
          <p:nvPr/>
        </p:nvSpPr>
        <p:spPr>
          <a:xfrm>
            <a:off x="640080" y="2148839"/>
            <a:ext cx="82297" cy="1325881"/>
          </a:xfrm>
          <a:prstGeom prst="rect">
            <a:avLst/>
          </a:prstGeom>
          <a:solidFill>
            <a:srgbClr val="DA45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10"/>
          <p:cNvSpPr txBox="1"/>
          <p:nvPr/>
        </p:nvSpPr>
        <p:spPr>
          <a:xfrm>
            <a:off x="841246" y="2295144"/>
            <a:ext cx="3108962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NORMAL SEQUENCE</a:t>
            </a:r>
          </a:p>
        </p:txBody>
      </p:sp>
      <p:sp>
        <p:nvSpPr>
          <p:cNvPr id="119" name="TextBox 11"/>
          <p:cNvSpPr txBox="1"/>
          <p:nvPr/>
        </p:nvSpPr>
        <p:spPr>
          <a:xfrm>
            <a:off x="841246" y="2724911"/>
            <a:ext cx="3108962" cy="482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defRPr sz="13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RED → GREEN → YELLOW</a:t>
            </a:r>
          </a:p>
          <a:p>
            <a:pPr>
              <a:defRPr sz="13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Target: 5 s / 5 s / 2 s</a:t>
            </a:r>
          </a:p>
        </p:txBody>
      </p:sp>
      <p:sp>
        <p:nvSpPr>
          <p:cNvPr id="120" name="Rounded Rectangle 12"/>
          <p:cNvSpPr/>
          <p:nvPr/>
        </p:nvSpPr>
        <p:spPr>
          <a:xfrm>
            <a:off x="4343400" y="2148839"/>
            <a:ext cx="3474721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Rectangle 13"/>
          <p:cNvSpPr/>
          <p:nvPr/>
        </p:nvSpPr>
        <p:spPr>
          <a:xfrm>
            <a:off x="4343399" y="2148839"/>
            <a:ext cx="82298" cy="1325881"/>
          </a:xfrm>
          <a:prstGeom prst="rect">
            <a:avLst/>
          </a:prstGeom>
          <a:solidFill>
            <a:srgbClr val="21689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TextBox 14"/>
          <p:cNvSpPr txBox="1"/>
          <p:nvPr/>
        </p:nvSpPr>
        <p:spPr>
          <a:xfrm>
            <a:off x="4544567" y="2295144"/>
            <a:ext cx="3108961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PEDESTRIAN REQUEST</a:t>
            </a:r>
          </a:p>
        </p:txBody>
      </p:sp>
      <p:sp>
        <p:nvSpPr>
          <p:cNvPr id="123" name="TextBox 15"/>
          <p:cNvSpPr txBox="1"/>
          <p:nvPr/>
        </p:nvSpPr>
        <p:spPr>
          <a:xfrm>
            <a:off x="4544567" y="2724911"/>
            <a:ext cx="3108961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3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Capture a button press and serve it at a safe point.</a:t>
            </a:r>
          </a:p>
        </p:txBody>
      </p:sp>
      <p:sp>
        <p:nvSpPr>
          <p:cNvPr id="124" name="Rounded Rectangle 16"/>
          <p:cNvSpPr/>
          <p:nvPr/>
        </p:nvSpPr>
        <p:spPr>
          <a:xfrm>
            <a:off x="8046719" y="2148839"/>
            <a:ext cx="3474721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Rectangle 17"/>
          <p:cNvSpPr/>
          <p:nvPr/>
        </p:nvSpPr>
        <p:spPr>
          <a:xfrm>
            <a:off x="8046719" y="2148839"/>
            <a:ext cx="82297" cy="1325881"/>
          </a:xfrm>
          <a:prstGeom prst="rect">
            <a:avLst/>
          </a:prstGeom>
          <a:solidFill>
            <a:srgbClr val="F4B23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18"/>
          <p:cNvSpPr txBox="1"/>
          <p:nvPr/>
        </p:nvSpPr>
        <p:spPr>
          <a:xfrm>
            <a:off x="8247888" y="2295144"/>
            <a:ext cx="3108961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EMERGENCY OVERRIDE</a:t>
            </a:r>
          </a:p>
        </p:txBody>
      </p:sp>
      <p:sp>
        <p:nvSpPr>
          <p:cNvPr id="127" name="TextBox 19"/>
          <p:cNvSpPr txBox="1"/>
          <p:nvPr/>
        </p:nvSpPr>
        <p:spPr>
          <a:xfrm>
            <a:off x="8247888" y="2724911"/>
            <a:ext cx="3108961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3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Prioritize the emergency event and command a safe output.</a:t>
            </a:r>
          </a:p>
        </p:txBody>
      </p:sp>
      <p:sp>
        <p:nvSpPr>
          <p:cNvPr id="128" name="TextBox 20"/>
          <p:cNvSpPr txBox="1"/>
          <p:nvPr/>
        </p:nvSpPr>
        <p:spPr>
          <a:xfrm>
            <a:off x="859536" y="3977638"/>
            <a:ext cx="10469881" cy="1063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spcBef>
                <a:spcPts val="900"/>
              </a:spcBef>
              <a:defRPr sz="17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Configure GPIO outputs for the three traffic LEDs.</a:t>
            </a:r>
          </a:p>
          <a:p>
            <a:pPr>
              <a:spcBef>
                <a:spcPts val="900"/>
              </a:spcBef>
              <a:defRPr sz="17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Use a hardware timer and finite-state machine instead of blocking delays.</a:t>
            </a:r>
          </a:p>
          <a:p>
            <a:pPr>
              <a:spcBef>
                <a:spcPts val="900"/>
              </a:spcBef>
              <a:defRPr sz="17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Integrate EXTI/NVIC, an IR vehicle sensor, relay output and UART status.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6F9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2"/>
          <p:cNvSpPr txBox="1"/>
          <p:nvPr/>
        </p:nvSpPr>
        <p:spPr>
          <a:xfrm>
            <a:off x="502919" y="256031"/>
            <a:ext cx="8686801" cy="212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900">
                <a:solidFill>
                  <a:srgbClr val="199C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INTELLIGENT TRAFFIC SIGNAL CONTROLLER</a:t>
            </a:r>
          </a:p>
        </p:txBody>
      </p:sp>
      <p:sp>
        <p:nvSpPr>
          <p:cNvPr id="132" name="TextBox 3"/>
          <p:cNvSpPr txBox="1"/>
          <p:nvPr/>
        </p:nvSpPr>
        <p:spPr>
          <a:xfrm>
            <a:off x="502919" y="566927"/>
            <a:ext cx="11064242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Hardware Platform</a:t>
            </a:r>
          </a:p>
        </p:txBody>
      </p:sp>
      <p:sp>
        <p:nvSpPr>
          <p:cNvPr id="133" name="Rectangle 4"/>
          <p:cNvSpPr/>
          <p:nvPr/>
        </p:nvSpPr>
        <p:spPr>
          <a:xfrm>
            <a:off x="502919" y="1170432"/>
            <a:ext cx="960121" cy="50293"/>
          </a:xfrm>
          <a:prstGeom prst="rect">
            <a:avLst/>
          </a:prstGeom>
          <a:solidFill>
            <a:srgbClr val="199C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TextBox 5"/>
          <p:cNvSpPr txBox="1"/>
          <p:nvPr/>
        </p:nvSpPr>
        <p:spPr>
          <a:xfrm>
            <a:off x="502919" y="6537959"/>
            <a:ext cx="5486401" cy="200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8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ESD &amp; IoT  •  Project Based Learning</a:t>
            </a:r>
          </a:p>
        </p:txBody>
      </p:sp>
      <p:sp>
        <p:nvSpPr>
          <p:cNvPr id="135" name="TextBox 6"/>
          <p:cNvSpPr txBox="1"/>
          <p:nvPr/>
        </p:nvSpPr>
        <p:spPr>
          <a:xfrm>
            <a:off x="11109959" y="6510528"/>
            <a:ext cx="502920" cy="212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b="1" sz="9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36" name="TextBox 7"/>
          <p:cNvSpPr txBox="1"/>
          <p:nvPr/>
        </p:nvSpPr>
        <p:spPr>
          <a:xfrm>
            <a:off x="640080" y="1371599"/>
            <a:ext cx="6400801" cy="63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supplied report identifies the photographed board as NUCLEO-F103RB.</a:t>
            </a:r>
          </a:p>
        </p:txBody>
      </p:sp>
      <p:sp>
        <p:nvSpPr>
          <p:cNvPr id="137" name="TextBox 8"/>
          <p:cNvSpPr txBox="1"/>
          <p:nvPr/>
        </p:nvSpPr>
        <p:spPr>
          <a:xfrm>
            <a:off x="768095" y="2057400"/>
            <a:ext cx="5532122" cy="2092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spcBef>
                <a:spcPts val="900"/>
              </a:spcBef>
              <a:defRPr sz="16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STM32F103RB microcontroller board</a:t>
            </a:r>
          </a:p>
          <a:p>
            <a:pPr>
              <a:spcBef>
                <a:spcPts val="900"/>
              </a:spcBef>
              <a:defRPr sz="16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Breadboard, jumper wires and current-limited LEDs</a:t>
            </a:r>
          </a:p>
          <a:p>
            <a:pPr>
              <a:spcBef>
                <a:spcPts val="900"/>
              </a:spcBef>
              <a:defRPr sz="16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Push button for pedestrian input</a:t>
            </a:r>
          </a:p>
          <a:p>
            <a:pPr>
              <a:spcBef>
                <a:spcPts val="900"/>
              </a:spcBef>
              <a:defRPr sz="16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Digital IR sensor for vehicle-presence detection</a:t>
            </a:r>
          </a:p>
          <a:p>
            <a:pPr>
              <a:spcBef>
                <a:spcPts val="900"/>
              </a:spcBef>
              <a:defRPr sz="16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Relay module for simulated emergency output</a:t>
            </a:r>
          </a:p>
          <a:p>
            <a:pPr>
              <a:spcBef>
                <a:spcPts val="900"/>
              </a:spcBef>
              <a:defRPr sz="16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USB connection for power and programming</a:t>
            </a:r>
          </a:p>
        </p:txBody>
      </p:sp>
      <p:pic>
        <p:nvPicPr>
          <p:cNvPr id="138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83680" y="2917013"/>
            <a:ext cx="4846321" cy="1481173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TextBox 10"/>
          <p:cNvSpPr txBox="1"/>
          <p:nvPr/>
        </p:nvSpPr>
        <p:spPr>
          <a:xfrm>
            <a:off x="6629400" y="5806440"/>
            <a:ext cx="4754880" cy="403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Photo evidence confirms physical assembly; exact pin mapping must come from the CubeMX .ioc file.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6F9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2"/>
          <p:cNvSpPr txBox="1"/>
          <p:nvPr/>
        </p:nvSpPr>
        <p:spPr>
          <a:xfrm>
            <a:off x="502919" y="256031"/>
            <a:ext cx="8686801" cy="212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900">
                <a:solidFill>
                  <a:srgbClr val="199C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INTELLIGENT TRAFFIC SIGNAL CONTROLLER</a:t>
            </a:r>
          </a:p>
        </p:txBody>
      </p:sp>
      <p:sp>
        <p:nvSpPr>
          <p:cNvPr id="143" name="TextBox 3"/>
          <p:cNvSpPr txBox="1"/>
          <p:nvPr/>
        </p:nvSpPr>
        <p:spPr>
          <a:xfrm>
            <a:off x="502919" y="566927"/>
            <a:ext cx="11064242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144" name="Rectangle 4"/>
          <p:cNvSpPr/>
          <p:nvPr/>
        </p:nvSpPr>
        <p:spPr>
          <a:xfrm>
            <a:off x="502919" y="1170432"/>
            <a:ext cx="960121" cy="50293"/>
          </a:xfrm>
          <a:prstGeom prst="rect">
            <a:avLst/>
          </a:prstGeom>
          <a:solidFill>
            <a:srgbClr val="199C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5"/>
          <p:cNvSpPr txBox="1"/>
          <p:nvPr/>
        </p:nvSpPr>
        <p:spPr>
          <a:xfrm>
            <a:off x="502919" y="6537959"/>
            <a:ext cx="5486401" cy="200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8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ESD &amp; IoT  •  Project Based Learning</a:t>
            </a:r>
          </a:p>
        </p:txBody>
      </p:sp>
      <p:sp>
        <p:nvSpPr>
          <p:cNvPr id="146" name="TextBox 6"/>
          <p:cNvSpPr txBox="1"/>
          <p:nvPr/>
        </p:nvSpPr>
        <p:spPr>
          <a:xfrm>
            <a:off x="11109959" y="6510528"/>
            <a:ext cx="502920" cy="212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b="1" sz="9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47" name="Rounded Rectangle 7"/>
          <p:cNvSpPr/>
          <p:nvPr/>
        </p:nvSpPr>
        <p:spPr>
          <a:xfrm>
            <a:off x="685800" y="1600200"/>
            <a:ext cx="2103121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21689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8"/>
          <p:cNvSpPr txBox="1"/>
          <p:nvPr/>
        </p:nvSpPr>
        <p:spPr>
          <a:xfrm>
            <a:off x="777240" y="1705355"/>
            <a:ext cx="192024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/>
          <a:p>
            <a:pPr algn="ctr">
              <a:defRPr b="1" sz="15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Pedestrian</a:t>
            </a:r>
          </a:p>
          <a:p>
            <a:pPr algn="ctr">
              <a:defRPr b="1" sz="15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Button</a:t>
            </a:r>
          </a:p>
        </p:txBody>
      </p:sp>
      <p:sp>
        <p:nvSpPr>
          <p:cNvPr id="149" name="Rounded Rectangle 9"/>
          <p:cNvSpPr/>
          <p:nvPr/>
        </p:nvSpPr>
        <p:spPr>
          <a:xfrm>
            <a:off x="685800" y="2651760"/>
            <a:ext cx="2103121" cy="7315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99C9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10"/>
          <p:cNvSpPr txBox="1"/>
          <p:nvPr/>
        </p:nvSpPr>
        <p:spPr>
          <a:xfrm>
            <a:off x="777240" y="2756915"/>
            <a:ext cx="192024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/>
          <a:p>
            <a:pPr algn="ctr">
              <a:defRPr b="1" sz="15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IR Vehicle</a:t>
            </a:r>
          </a:p>
          <a:p>
            <a:pPr algn="ctr">
              <a:defRPr b="1" sz="15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Sensor</a:t>
            </a:r>
          </a:p>
        </p:txBody>
      </p:sp>
      <p:sp>
        <p:nvSpPr>
          <p:cNvPr id="151" name="Rounded Rectangle 11"/>
          <p:cNvSpPr/>
          <p:nvPr/>
        </p:nvSpPr>
        <p:spPr>
          <a:xfrm>
            <a:off x="685800" y="3703320"/>
            <a:ext cx="2103121" cy="7315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4B2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12"/>
          <p:cNvSpPr txBox="1"/>
          <p:nvPr/>
        </p:nvSpPr>
        <p:spPr>
          <a:xfrm>
            <a:off x="777240" y="3808475"/>
            <a:ext cx="1920240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/>
          <a:p>
            <a:pPr algn="ctr">
              <a:defRPr b="1" sz="15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Emergency</a:t>
            </a:r>
          </a:p>
          <a:p>
            <a:pPr algn="ctr">
              <a:defRPr b="1" sz="15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Input</a:t>
            </a:r>
          </a:p>
        </p:txBody>
      </p:sp>
      <p:sp>
        <p:nvSpPr>
          <p:cNvPr id="153" name="Rounded Rectangle 13"/>
          <p:cNvSpPr/>
          <p:nvPr/>
        </p:nvSpPr>
        <p:spPr>
          <a:xfrm>
            <a:off x="3886200" y="2148839"/>
            <a:ext cx="3200400" cy="1828801"/>
          </a:xfrm>
          <a:prstGeom prst="roundRect">
            <a:avLst>
              <a:gd name="adj" fmla="val 16667"/>
            </a:avLst>
          </a:prstGeom>
          <a:solidFill>
            <a:srgbClr val="1227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14"/>
          <p:cNvSpPr txBox="1"/>
          <p:nvPr/>
        </p:nvSpPr>
        <p:spPr>
          <a:xfrm>
            <a:off x="4069079" y="2583941"/>
            <a:ext cx="2834641" cy="949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/>
          <a:p>
            <a:pPr algn="ctr">
              <a:defRPr b="1" sz="19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STM32F103RB</a:t>
            </a:r>
          </a:p>
          <a:p>
            <a:pPr algn="ctr">
              <a:defRPr b="1" sz="19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Finite-State Machine</a:t>
            </a:r>
          </a:p>
          <a:p>
            <a:pPr algn="ctr">
              <a:defRPr b="1" sz="19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TIM2 + EXTI / NVIC</a:t>
            </a:r>
          </a:p>
        </p:txBody>
      </p:sp>
      <p:sp>
        <p:nvSpPr>
          <p:cNvPr id="155" name="Rounded Rectangle 15"/>
          <p:cNvSpPr/>
          <p:nvPr/>
        </p:nvSpPr>
        <p:spPr>
          <a:xfrm>
            <a:off x="8366759" y="1600200"/>
            <a:ext cx="2743201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454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TextBox 16"/>
          <p:cNvSpPr txBox="1"/>
          <p:nvPr/>
        </p:nvSpPr>
        <p:spPr>
          <a:xfrm>
            <a:off x="8458199" y="1718055"/>
            <a:ext cx="2560322" cy="50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4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RED / YELLOW / GREEN LEDs</a:t>
            </a:r>
          </a:p>
        </p:txBody>
      </p:sp>
      <p:sp>
        <p:nvSpPr>
          <p:cNvPr id="157" name="Rounded Rectangle 17"/>
          <p:cNvSpPr/>
          <p:nvPr/>
        </p:nvSpPr>
        <p:spPr>
          <a:xfrm>
            <a:off x="8366759" y="2651760"/>
            <a:ext cx="2743201" cy="7315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4B2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18"/>
          <p:cNvSpPr txBox="1"/>
          <p:nvPr/>
        </p:nvSpPr>
        <p:spPr>
          <a:xfrm>
            <a:off x="8458199" y="2877565"/>
            <a:ext cx="2560322" cy="28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4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Emergency Relay</a:t>
            </a:r>
          </a:p>
        </p:txBody>
      </p:sp>
      <p:sp>
        <p:nvSpPr>
          <p:cNvPr id="159" name="Rounded Rectangle 19"/>
          <p:cNvSpPr/>
          <p:nvPr/>
        </p:nvSpPr>
        <p:spPr>
          <a:xfrm>
            <a:off x="8366759" y="3703320"/>
            <a:ext cx="2743201" cy="7315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99C9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TextBox 20"/>
          <p:cNvSpPr txBox="1"/>
          <p:nvPr/>
        </p:nvSpPr>
        <p:spPr>
          <a:xfrm>
            <a:off x="8458199" y="3929125"/>
            <a:ext cx="2560322" cy="28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 anchor="ctr">
            <a:spAutoFit/>
          </a:bodyPr>
          <a:lstStyle>
            <a:lvl1pPr algn="ctr">
              <a:defRPr b="1" sz="14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UART Status / Logging</a:t>
            </a:r>
          </a:p>
        </p:txBody>
      </p:sp>
      <p:sp>
        <p:nvSpPr>
          <p:cNvPr id="161" name="Connector 21"/>
          <p:cNvSpPr/>
          <p:nvPr/>
        </p:nvSpPr>
        <p:spPr>
          <a:xfrm>
            <a:off x="2788920" y="1965960"/>
            <a:ext cx="1097281" cy="1097281"/>
          </a:xfrm>
          <a:prstGeom prst="line">
            <a:avLst/>
          </a:prstGeom>
          <a:ln w="25400">
            <a:solidFill>
              <a:srgbClr val="5D6F8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" name="Connector 22"/>
          <p:cNvSpPr/>
          <p:nvPr/>
        </p:nvSpPr>
        <p:spPr>
          <a:xfrm>
            <a:off x="2788920" y="3017520"/>
            <a:ext cx="1097281" cy="45721"/>
          </a:xfrm>
          <a:prstGeom prst="line">
            <a:avLst/>
          </a:prstGeom>
          <a:ln w="25400">
            <a:solidFill>
              <a:srgbClr val="5D6F8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" name="Connector 23"/>
          <p:cNvSpPr/>
          <p:nvPr/>
        </p:nvSpPr>
        <p:spPr>
          <a:xfrm flipV="1">
            <a:off x="2788920" y="3063240"/>
            <a:ext cx="1097281" cy="1005840"/>
          </a:xfrm>
          <a:prstGeom prst="line">
            <a:avLst/>
          </a:prstGeom>
          <a:ln w="25400">
            <a:solidFill>
              <a:srgbClr val="5D6F8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" name="Connector 24"/>
          <p:cNvSpPr/>
          <p:nvPr/>
        </p:nvSpPr>
        <p:spPr>
          <a:xfrm flipV="1">
            <a:off x="7086599" y="1965960"/>
            <a:ext cx="1280161" cy="1097281"/>
          </a:xfrm>
          <a:prstGeom prst="line">
            <a:avLst/>
          </a:prstGeom>
          <a:ln w="25400">
            <a:solidFill>
              <a:srgbClr val="5D6F8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" name="Connector 25"/>
          <p:cNvSpPr/>
          <p:nvPr/>
        </p:nvSpPr>
        <p:spPr>
          <a:xfrm flipV="1">
            <a:off x="7086599" y="3017520"/>
            <a:ext cx="1280161" cy="45721"/>
          </a:xfrm>
          <a:prstGeom prst="line">
            <a:avLst/>
          </a:prstGeom>
          <a:ln w="25400">
            <a:solidFill>
              <a:srgbClr val="5D6F8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" name="Connector 26"/>
          <p:cNvSpPr/>
          <p:nvPr/>
        </p:nvSpPr>
        <p:spPr>
          <a:xfrm>
            <a:off x="7086599" y="3063239"/>
            <a:ext cx="1280161" cy="1005840"/>
          </a:xfrm>
          <a:prstGeom prst="line">
            <a:avLst/>
          </a:prstGeom>
          <a:ln w="25400">
            <a:solidFill>
              <a:srgbClr val="5D6F8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" name="TextBox 27"/>
          <p:cNvSpPr txBox="1"/>
          <p:nvPr/>
        </p:nvSpPr>
        <p:spPr>
          <a:xfrm>
            <a:off x="3200399" y="4892040"/>
            <a:ext cx="5760722" cy="63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>
                <a:solidFill>
                  <a:srgbClr val="21689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Inputs → event capture → control decision → outputs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6F9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TextBox 2"/>
          <p:cNvSpPr txBox="1"/>
          <p:nvPr/>
        </p:nvSpPr>
        <p:spPr>
          <a:xfrm>
            <a:off x="502919" y="256031"/>
            <a:ext cx="8686801" cy="212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900">
                <a:solidFill>
                  <a:srgbClr val="199C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INTELLIGENT TRAFFIC SIGNAL CONTROLLER</a:t>
            </a:r>
          </a:p>
        </p:txBody>
      </p:sp>
      <p:sp>
        <p:nvSpPr>
          <p:cNvPr id="171" name="TextBox 3"/>
          <p:cNvSpPr txBox="1"/>
          <p:nvPr/>
        </p:nvSpPr>
        <p:spPr>
          <a:xfrm>
            <a:off x="502919" y="566927"/>
            <a:ext cx="11064242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Finite-State Machine</a:t>
            </a:r>
          </a:p>
        </p:txBody>
      </p:sp>
      <p:sp>
        <p:nvSpPr>
          <p:cNvPr id="172" name="Rectangle 4"/>
          <p:cNvSpPr/>
          <p:nvPr/>
        </p:nvSpPr>
        <p:spPr>
          <a:xfrm>
            <a:off x="502919" y="1170432"/>
            <a:ext cx="960121" cy="50293"/>
          </a:xfrm>
          <a:prstGeom prst="rect">
            <a:avLst/>
          </a:prstGeom>
          <a:solidFill>
            <a:srgbClr val="199C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5"/>
          <p:cNvSpPr txBox="1"/>
          <p:nvPr/>
        </p:nvSpPr>
        <p:spPr>
          <a:xfrm>
            <a:off x="502919" y="6537959"/>
            <a:ext cx="5486401" cy="200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8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ESD &amp; IoT  •  Project Based Learning</a:t>
            </a:r>
          </a:p>
        </p:txBody>
      </p:sp>
      <p:sp>
        <p:nvSpPr>
          <p:cNvPr id="174" name="TextBox 6"/>
          <p:cNvSpPr txBox="1"/>
          <p:nvPr/>
        </p:nvSpPr>
        <p:spPr>
          <a:xfrm>
            <a:off x="11109959" y="6510528"/>
            <a:ext cx="502920" cy="212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b="1" sz="9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75" name="Rounded Rectangle 7"/>
          <p:cNvSpPr/>
          <p:nvPr/>
        </p:nvSpPr>
        <p:spPr>
          <a:xfrm>
            <a:off x="914400" y="1965960"/>
            <a:ext cx="1737361" cy="1051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DA454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extBox 8"/>
          <p:cNvSpPr txBox="1"/>
          <p:nvPr/>
        </p:nvSpPr>
        <p:spPr>
          <a:xfrm>
            <a:off x="987552" y="2148839"/>
            <a:ext cx="1591057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RED</a:t>
            </a:r>
          </a:p>
        </p:txBody>
      </p:sp>
      <p:sp>
        <p:nvSpPr>
          <p:cNvPr id="177" name="TextBox 9"/>
          <p:cNvSpPr txBox="1"/>
          <p:nvPr/>
        </p:nvSpPr>
        <p:spPr>
          <a:xfrm>
            <a:off x="987552" y="2532888"/>
            <a:ext cx="1591057" cy="25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sz="12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 seconds</a:t>
            </a:r>
          </a:p>
        </p:txBody>
      </p:sp>
      <p:sp>
        <p:nvSpPr>
          <p:cNvPr id="178" name="Rounded Rectangle 10"/>
          <p:cNvSpPr/>
          <p:nvPr/>
        </p:nvSpPr>
        <p:spPr>
          <a:xfrm>
            <a:off x="3749038" y="1965960"/>
            <a:ext cx="1737362" cy="1051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2CA86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TextBox 11"/>
          <p:cNvSpPr txBox="1"/>
          <p:nvPr/>
        </p:nvSpPr>
        <p:spPr>
          <a:xfrm>
            <a:off x="3822191" y="2148839"/>
            <a:ext cx="1591057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GREEN</a:t>
            </a:r>
          </a:p>
        </p:txBody>
      </p:sp>
      <p:sp>
        <p:nvSpPr>
          <p:cNvPr id="180" name="TextBox 12"/>
          <p:cNvSpPr txBox="1"/>
          <p:nvPr/>
        </p:nvSpPr>
        <p:spPr>
          <a:xfrm>
            <a:off x="3822191" y="2532888"/>
            <a:ext cx="1591057" cy="25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sz="12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 seconds</a:t>
            </a:r>
          </a:p>
        </p:txBody>
      </p:sp>
      <p:sp>
        <p:nvSpPr>
          <p:cNvPr id="181" name="Rounded Rectangle 13"/>
          <p:cNvSpPr/>
          <p:nvPr/>
        </p:nvSpPr>
        <p:spPr>
          <a:xfrm>
            <a:off x="6583680" y="1965960"/>
            <a:ext cx="1737361" cy="1051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5BE3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TextBox 14"/>
          <p:cNvSpPr txBox="1"/>
          <p:nvPr/>
        </p:nvSpPr>
        <p:spPr>
          <a:xfrm>
            <a:off x="6656831" y="2148839"/>
            <a:ext cx="1591057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YELLOW</a:t>
            </a:r>
          </a:p>
        </p:txBody>
      </p:sp>
      <p:sp>
        <p:nvSpPr>
          <p:cNvPr id="183" name="TextBox 15"/>
          <p:cNvSpPr txBox="1"/>
          <p:nvPr/>
        </p:nvSpPr>
        <p:spPr>
          <a:xfrm>
            <a:off x="6656831" y="2532888"/>
            <a:ext cx="1591057" cy="25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sz="12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 seconds</a:t>
            </a:r>
          </a:p>
        </p:txBody>
      </p:sp>
      <p:sp>
        <p:nvSpPr>
          <p:cNvPr id="184" name="Rounded Rectangle 16"/>
          <p:cNvSpPr/>
          <p:nvPr/>
        </p:nvSpPr>
        <p:spPr>
          <a:xfrm>
            <a:off x="9418319" y="1965960"/>
            <a:ext cx="1737361" cy="1051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DA454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17"/>
          <p:cNvSpPr txBox="1"/>
          <p:nvPr/>
        </p:nvSpPr>
        <p:spPr>
          <a:xfrm>
            <a:off x="9491471" y="2148839"/>
            <a:ext cx="1591057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RED</a:t>
            </a:r>
          </a:p>
        </p:txBody>
      </p:sp>
      <p:sp>
        <p:nvSpPr>
          <p:cNvPr id="186" name="TextBox 18"/>
          <p:cNvSpPr txBox="1"/>
          <p:nvPr/>
        </p:nvSpPr>
        <p:spPr>
          <a:xfrm>
            <a:off x="9491471" y="2532888"/>
            <a:ext cx="1591057" cy="25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sz="12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repeat</a:t>
            </a:r>
          </a:p>
        </p:txBody>
      </p:sp>
      <p:sp>
        <p:nvSpPr>
          <p:cNvPr id="187" name="Connector 19"/>
          <p:cNvSpPr/>
          <p:nvPr/>
        </p:nvSpPr>
        <p:spPr>
          <a:xfrm>
            <a:off x="2651760" y="2487167"/>
            <a:ext cx="1097279" cy="1"/>
          </a:xfrm>
          <a:prstGeom prst="line">
            <a:avLst/>
          </a:prstGeom>
          <a:ln w="25400">
            <a:solidFill>
              <a:srgbClr val="21689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" name="Connector 20"/>
          <p:cNvSpPr/>
          <p:nvPr/>
        </p:nvSpPr>
        <p:spPr>
          <a:xfrm>
            <a:off x="5486399" y="2487167"/>
            <a:ext cx="1097282" cy="1"/>
          </a:xfrm>
          <a:prstGeom prst="line">
            <a:avLst/>
          </a:prstGeom>
          <a:ln w="25400">
            <a:solidFill>
              <a:srgbClr val="21689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" name="Connector 21"/>
          <p:cNvSpPr/>
          <p:nvPr/>
        </p:nvSpPr>
        <p:spPr>
          <a:xfrm>
            <a:off x="8321040" y="2487167"/>
            <a:ext cx="1097281" cy="1"/>
          </a:xfrm>
          <a:prstGeom prst="line">
            <a:avLst/>
          </a:prstGeom>
          <a:ln w="25400">
            <a:solidFill>
              <a:srgbClr val="21689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" name="Rounded Rectangle 22"/>
          <p:cNvSpPr/>
          <p:nvPr/>
        </p:nvSpPr>
        <p:spPr>
          <a:xfrm>
            <a:off x="914400" y="3840479"/>
            <a:ext cx="4754880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Rectangle 23"/>
          <p:cNvSpPr/>
          <p:nvPr/>
        </p:nvSpPr>
        <p:spPr>
          <a:xfrm>
            <a:off x="914399" y="3840479"/>
            <a:ext cx="82298" cy="1234441"/>
          </a:xfrm>
          <a:prstGeom prst="rect">
            <a:avLst/>
          </a:prstGeom>
          <a:solidFill>
            <a:srgbClr val="21689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24"/>
          <p:cNvSpPr txBox="1"/>
          <p:nvPr/>
        </p:nvSpPr>
        <p:spPr>
          <a:xfrm>
            <a:off x="1115567" y="3986784"/>
            <a:ext cx="4389121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PEDESTRIAN EVENT</a:t>
            </a:r>
          </a:p>
        </p:txBody>
      </p:sp>
      <p:sp>
        <p:nvSpPr>
          <p:cNvPr id="193" name="TextBox 25"/>
          <p:cNvSpPr txBox="1"/>
          <p:nvPr/>
        </p:nvSpPr>
        <p:spPr>
          <a:xfrm>
            <a:off x="1115567" y="4416552"/>
            <a:ext cx="4389121" cy="276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3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Latch request; serve at a safe RED boundary.</a:t>
            </a:r>
          </a:p>
        </p:txBody>
      </p:sp>
      <p:sp>
        <p:nvSpPr>
          <p:cNvPr id="194" name="Rounded Rectangle 26"/>
          <p:cNvSpPr/>
          <p:nvPr/>
        </p:nvSpPr>
        <p:spPr>
          <a:xfrm>
            <a:off x="6400800" y="3840479"/>
            <a:ext cx="4754880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Rectangle 27"/>
          <p:cNvSpPr/>
          <p:nvPr/>
        </p:nvSpPr>
        <p:spPr>
          <a:xfrm>
            <a:off x="6400799" y="3840479"/>
            <a:ext cx="82298" cy="1234441"/>
          </a:xfrm>
          <a:prstGeom prst="rect">
            <a:avLst/>
          </a:prstGeom>
          <a:solidFill>
            <a:srgbClr val="F4B23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28"/>
          <p:cNvSpPr txBox="1"/>
          <p:nvPr/>
        </p:nvSpPr>
        <p:spPr>
          <a:xfrm>
            <a:off x="6601968" y="3986784"/>
            <a:ext cx="4389121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EMERGENCY EVENT</a:t>
            </a:r>
          </a:p>
        </p:txBody>
      </p:sp>
      <p:sp>
        <p:nvSpPr>
          <p:cNvPr id="197" name="TextBox 29"/>
          <p:cNvSpPr txBox="1"/>
          <p:nvPr/>
        </p:nvSpPr>
        <p:spPr>
          <a:xfrm>
            <a:off x="6601968" y="4416552"/>
            <a:ext cx="4389121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3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Override normal timing; proposed safe pattern is all-red + relay.</a:t>
            </a:r>
          </a:p>
        </p:txBody>
      </p:sp>
      <p:sp>
        <p:nvSpPr>
          <p:cNvPr id="198" name="TextBox 30"/>
          <p:cNvSpPr txBox="1"/>
          <p:nvPr/>
        </p:nvSpPr>
        <p:spPr>
          <a:xfrm>
            <a:off x="1097280" y="5577840"/>
            <a:ext cx="9966960" cy="276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sz="13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timing values are design targets, not measured results in the supplied evidence.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6F9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extBox 2"/>
          <p:cNvSpPr txBox="1"/>
          <p:nvPr/>
        </p:nvSpPr>
        <p:spPr>
          <a:xfrm>
            <a:off x="502919" y="256031"/>
            <a:ext cx="8686801" cy="212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900">
                <a:solidFill>
                  <a:srgbClr val="199C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INTELLIGENT TRAFFIC SIGNAL CONTROLLER</a:t>
            </a:r>
          </a:p>
        </p:txBody>
      </p:sp>
      <p:sp>
        <p:nvSpPr>
          <p:cNvPr id="202" name="TextBox 3"/>
          <p:cNvSpPr txBox="1"/>
          <p:nvPr/>
        </p:nvSpPr>
        <p:spPr>
          <a:xfrm>
            <a:off x="502919" y="566927"/>
            <a:ext cx="11064242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Timer-Based Signal Timing</a:t>
            </a:r>
          </a:p>
        </p:txBody>
      </p:sp>
      <p:sp>
        <p:nvSpPr>
          <p:cNvPr id="203" name="Rectangle 4"/>
          <p:cNvSpPr/>
          <p:nvPr/>
        </p:nvSpPr>
        <p:spPr>
          <a:xfrm>
            <a:off x="502919" y="1170432"/>
            <a:ext cx="960121" cy="50293"/>
          </a:xfrm>
          <a:prstGeom prst="rect">
            <a:avLst/>
          </a:prstGeom>
          <a:solidFill>
            <a:srgbClr val="199C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extBox 5"/>
          <p:cNvSpPr txBox="1"/>
          <p:nvPr/>
        </p:nvSpPr>
        <p:spPr>
          <a:xfrm>
            <a:off x="502919" y="6537959"/>
            <a:ext cx="5486401" cy="200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8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ESD &amp; IoT  •  Project Based Learning</a:t>
            </a:r>
          </a:p>
        </p:txBody>
      </p:sp>
      <p:sp>
        <p:nvSpPr>
          <p:cNvPr id="205" name="TextBox 6"/>
          <p:cNvSpPr txBox="1"/>
          <p:nvPr/>
        </p:nvSpPr>
        <p:spPr>
          <a:xfrm>
            <a:off x="11109959" y="6510528"/>
            <a:ext cx="502920" cy="212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b="1" sz="9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206" name="TextBox 7"/>
          <p:cNvSpPr txBox="1"/>
          <p:nvPr/>
        </p:nvSpPr>
        <p:spPr>
          <a:xfrm>
            <a:off x="685799" y="1417319"/>
            <a:ext cx="10698482" cy="377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0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Target cycle: 5 s RED + 5 s GREEN + 2 s YELLOW = 12 seconds</a:t>
            </a:r>
          </a:p>
        </p:txBody>
      </p:sp>
      <p:sp>
        <p:nvSpPr>
          <p:cNvPr id="207" name="Rectangle 8"/>
          <p:cNvSpPr/>
          <p:nvPr/>
        </p:nvSpPr>
        <p:spPr>
          <a:xfrm>
            <a:off x="914399" y="2423160"/>
            <a:ext cx="1965962" cy="685801"/>
          </a:xfrm>
          <a:prstGeom prst="rect">
            <a:avLst/>
          </a:prstGeom>
          <a:solidFill>
            <a:srgbClr val="DA45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TextBox 9"/>
          <p:cNvSpPr txBox="1"/>
          <p:nvPr/>
        </p:nvSpPr>
        <p:spPr>
          <a:xfrm>
            <a:off x="914399" y="2578607"/>
            <a:ext cx="1965962" cy="28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RED</a:t>
            </a:r>
          </a:p>
        </p:txBody>
      </p:sp>
      <p:sp>
        <p:nvSpPr>
          <p:cNvPr id="209" name="TextBox 10"/>
          <p:cNvSpPr txBox="1"/>
          <p:nvPr/>
        </p:nvSpPr>
        <p:spPr>
          <a:xfrm>
            <a:off x="914399" y="3246120"/>
            <a:ext cx="1965962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sz="11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5s</a:t>
            </a:r>
          </a:p>
        </p:txBody>
      </p:sp>
      <p:sp>
        <p:nvSpPr>
          <p:cNvPr id="210" name="Rectangle 11"/>
          <p:cNvSpPr/>
          <p:nvPr/>
        </p:nvSpPr>
        <p:spPr>
          <a:xfrm>
            <a:off x="2880360" y="2423160"/>
            <a:ext cx="1965961" cy="685801"/>
          </a:xfrm>
          <a:prstGeom prst="rect">
            <a:avLst/>
          </a:prstGeom>
          <a:solidFill>
            <a:srgbClr val="2CA8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12"/>
          <p:cNvSpPr txBox="1"/>
          <p:nvPr/>
        </p:nvSpPr>
        <p:spPr>
          <a:xfrm>
            <a:off x="2880360" y="2578607"/>
            <a:ext cx="1965961" cy="28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GREEN</a:t>
            </a:r>
          </a:p>
        </p:txBody>
      </p:sp>
      <p:sp>
        <p:nvSpPr>
          <p:cNvPr id="212" name="TextBox 13"/>
          <p:cNvSpPr txBox="1"/>
          <p:nvPr/>
        </p:nvSpPr>
        <p:spPr>
          <a:xfrm>
            <a:off x="2880360" y="3246120"/>
            <a:ext cx="1965961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sz="11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5s</a:t>
            </a:r>
          </a:p>
        </p:txBody>
      </p:sp>
      <p:sp>
        <p:nvSpPr>
          <p:cNvPr id="213" name="Rectangle 14"/>
          <p:cNvSpPr/>
          <p:nvPr/>
        </p:nvSpPr>
        <p:spPr>
          <a:xfrm>
            <a:off x="4846320" y="2423160"/>
            <a:ext cx="786385" cy="685801"/>
          </a:xfrm>
          <a:prstGeom prst="rect">
            <a:avLst/>
          </a:prstGeom>
          <a:solidFill>
            <a:srgbClr val="F5BE3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TextBox 15"/>
          <p:cNvSpPr txBox="1"/>
          <p:nvPr/>
        </p:nvSpPr>
        <p:spPr>
          <a:xfrm>
            <a:off x="4846320" y="2578607"/>
            <a:ext cx="786385" cy="50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4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YELLOW</a:t>
            </a:r>
          </a:p>
        </p:txBody>
      </p:sp>
      <p:sp>
        <p:nvSpPr>
          <p:cNvPr id="215" name="TextBox 16"/>
          <p:cNvSpPr txBox="1"/>
          <p:nvPr/>
        </p:nvSpPr>
        <p:spPr>
          <a:xfrm>
            <a:off x="4846320" y="3246120"/>
            <a:ext cx="786385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sz="11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2s</a:t>
            </a:r>
          </a:p>
        </p:txBody>
      </p:sp>
      <p:sp>
        <p:nvSpPr>
          <p:cNvPr id="216" name="Rounded Rectangle 17"/>
          <p:cNvSpPr/>
          <p:nvPr/>
        </p:nvSpPr>
        <p:spPr>
          <a:xfrm>
            <a:off x="777240" y="3931920"/>
            <a:ext cx="5074921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Rectangle 18"/>
          <p:cNvSpPr/>
          <p:nvPr/>
        </p:nvSpPr>
        <p:spPr>
          <a:xfrm>
            <a:off x="777240" y="3931920"/>
            <a:ext cx="82297" cy="1143001"/>
          </a:xfrm>
          <a:prstGeom prst="rect">
            <a:avLst/>
          </a:prstGeom>
          <a:solidFill>
            <a:srgbClr val="21689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19"/>
          <p:cNvSpPr txBox="1"/>
          <p:nvPr/>
        </p:nvSpPr>
        <p:spPr>
          <a:xfrm>
            <a:off x="978407" y="4078223"/>
            <a:ext cx="4709161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TIMER FORMULA</a:t>
            </a:r>
          </a:p>
        </p:txBody>
      </p:sp>
      <p:sp>
        <p:nvSpPr>
          <p:cNvPr id="219" name="TextBox 20"/>
          <p:cNvSpPr txBox="1"/>
          <p:nvPr/>
        </p:nvSpPr>
        <p:spPr>
          <a:xfrm>
            <a:off x="978407" y="4507991"/>
            <a:ext cx="4709161" cy="276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3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f_update = f_timer / [(PSC + 1) × (ARR + 1)]</a:t>
            </a:r>
          </a:p>
        </p:txBody>
      </p:sp>
      <p:sp>
        <p:nvSpPr>
          <p:cNvPr id="220" name="Rounded Rectangle 21"/>
          <p:cNvSpPr/>
          <p:nvPr/>
        </p:nvSpPr>
        <p:spPr>
          <a:xfrm>
            <a:off x="6263640" y="3931920"/>
            <a:ext cx="5074921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Rectangle 22"/>
          <p:cNvSpPr/>
          <p:nvPr/>
        </p:nvSpPr>
        <p:spPr>
          <a:xfrm>
            <a:off x="6263640" y="3931920"/>
            <a:ext cx="82297" cy="1143001"/>
          </a:xfrm>
          <a:prstGeom prst="rect">
            <a:avLst/>
          </a:prstGeom>
          <a:solidFill>
            <a:srgbClr val="199C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23"/>
          <p:cNvSpPr txBox="1"/>
          <p:nvPr/>
        </p:nvSpPr>
        <p:spPr>
          <a:xfrm>
            <a:off x="6464806" y="4078223"/>
            <a:ext cx="4709160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ILLUSTRATIVE 1 ms TICK</a:t>
            </a:r>
          </a:p>
        </p:txBody>
      </p:sp>
      <p:sp>
        <p:nvSpPr>
          <p:cNvPr id="223" name="TextBox 24"/>
          <p:cNvSpPr txBox="1"/>
          <p:nvPr/>
        </p:nvSpPr>
        <p:spPr>
          <a:xfrm>
            <a:off x="6464806" y="4507991"/>
            <a:ext cx="4709160" cy="276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3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If TIM2CLK = 72 MHz: PSC = 7199, ARR = 9</a:t>
            </a:r>
          </a:p>
        </p:txBody>
      </p:sp>
      <p:sp>
        <p:nvSpPr>
          <p:cNvPr id="224" name="TextBox 25"/>
          <p:cNvSpPr txBox="1"/>
          <p:nvPr/>
        </p:nvSpPr>
        <p:spPr>
          <a:xfrm>
            <a:off x="914400" y="5623559"/>
            <a:ext cx="10424160" cy="276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sz="13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Important: verify the actual RCC/APB timer clock in CubeMX before using these values.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6F9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extBox 2"/>
          <p:cNvSpPr txBox="1"/>
          <p:nvPr/>
        </p:nvSpPr>
        <p:spPr>
          <a:xfrm>
            <a:off x="502919" y="256031"/>
            <a:ext cx="8686801" cy="212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900">
                <a:solidFill>
                  <a:srgbClr val="199C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INTELLIGENT TRAFFIC SIGNAL CONTROLLER</a:t>
            </a:r>
          </a:p>
        </p:txBody>
      </p:sp>
      <p:sp>
        <p:nvSpPr>
          <p:cNvPr id="228" name="TextBox 3"/>
          <p:cNvSpPr txBox="1"/>
          <p:nvPr/>
        </p:nvSpPr>
        <p:spPr>
          <a:xfrm>
            <a:off x="502919" y="566927"/>
            <a:ext cx="11064242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Inputs, Interrupts &amp; Emergency Handling</a:t>
            </a:r>
          </a:p>
        </p:txBody>
      </p:sp>
      <p:sp>
        <p:nvSpPr>
          <p:cNvPr id="229" name="Rectangle 4"/>
          <p:cNvSpPr/>
          <p:nvPr/>
        </p:nvSpPr>
        <p:spPr>
          <a:xfrm>
            <a:off x="502919" y="1170432"/>
            <a:ext cx="960121" cy="50293"/>
          </a:xfrm>
          <a:prstGeom prst="rect">
            <a:avLst/>
          </a:prstGeom>
          <a:solidFill>
            <a:srgbClr val="199C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TextBox 5"/>
          <p:cNvSpPr txBox="1"/>
          <p:nvPr/>
        </p:nvSpPr>
        <p:spPr>
          <a:xfrm>
            <a:off x="502919" y="6537959"/>
            <a:ext cx="5486401" cy="200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8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ESD &amp; IoT  •  Project Based Learning</a:t>
            </a:r>
          </a:p>
        </p:txBody>
      </p:sp>
      <p:sp>
        <p:nvSpPr>
          <p:cNvPr id="231" name="TextBox 6"/>
          <p:cNvSpPr txBox="1"/>
          <p:nvPr/>
        </p:nvSpPr>
        <p:spPr>
          <a:xfrm>
            <a:off x="11109959" y="6510528"/>
            <a:ext cx="502920" cy="212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b="1" sz="9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232" name="Rounded Rectangle 7"/>
          <p:cNvSpPr/>
          <p:nvPr/>
        </p:nvSpPr>
        <p:spPr>
          <a:xfrm>
            <a:off x="685800" y="1508760"/>
            <a:ext cx="352044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Rectangle 8"/>
          <p:cNvSpPr/>
          <p:nvPr/>
        </p:nvSpPr>
        <p:spPr>
          <a:xfrm>
            <a:off x="685799" y="1508760"/>
            <a:ext cx="82298" cy="1828801"/>
          </a:xfrm>
          <a:prstGeom prst="rect">
            <a:avLst/>
          </a:prstGeom>
          <a:solidFill>
            <a:srgbClr val="21689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9"/>
          <p:cNvSpPr txBox="1"/>
          <p:nvPr/>
        </p:nvSpPr>
        <p:spPr>
          <a:xfrm>
            <a:off x="886967" y="1655062"/>
            <a:ext cx="3154682" cy="314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6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EXTI — PEDESTRIAN</a:t>
            </a:r>
          </a:p>
        </p:txBody>
      </p:sp>
      <p:sp>
        <p:nvSpPr>
          <p:cNvPr id="235" name="TextBox 10"/>
          <p:cNvSpPr txBox="1"/>
          <p:nvPr/>
        </p:nvSpPr>
        <p:spPr>
          <a:xfrm>
            <a:off x="886967" y="2084831"/>
            <a:ext cx="3154682" cy="682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3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Button edge is captured promptly. ISR sets a pending flag; main logic decides when it is safe to serve.</a:t>
            </a:r>
          </a:p>
        </p:txBody>
      </p:sp>
      <p:sp>
        <p:nvSpPr>
          <p:cNvPr id="236" name="Rounded Rectangle 11"/>
          <p:cNvSpPr/>
          <p:nvPr/>
        </p:nvSpPr>
        <p:spPr>
          <a:xfrm>
            <a:off x="4343400" y="1508760"/>
            <a:ext cx="352044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Rectangle 12"/>
          <p:cNvSpPr/>
          <p:nvPr/>
        </p:nvSpPr>
        <p:spPr>
          <a:xfrm>
            <a:off x="4343399" y="1508760"/>
            <a:ext cx="82298" cy="1828801"/>
          </a:xfrm>
          <a:prstGeom prst="rect">
            <a:avLst/>
          </a:prstGeom>
          <a:solidFill>
            <a:srgbClr val="199C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extBox 13"/>
          <p:cNvSpPr txBox="1"/>
          <p:nvPr/>
        </p:nvSpPr>
        <p:spPr>
          <a:xfrm>
            <a:off x="4544567" y="1655062"/>
            <a:ext cx="3154682" cy="314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6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IR SENSOR</a:t>
            </a:r>
          </a:p>
        </p:txBody>
      </p:sp>
      <p:sp>
        <p:nvSpPr>
          <p:cNvPr id="239" name="TextBox 14"/>
          <p:cNvSpPr txBox="1"/>
          <p:nvPr/>
        </p:nvSpPr>
        <p:spPr>
          <a:xfrm>
            <a:off x="4544567" y="2084831"/>
            <a:ext cx="3154682" cy="682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3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Digital input indicates object present/absent. Confirm polarity and 3.3 V compatibility.</a:t>
            </a:r>
          </a:p>
        </p:txBody>
      </p:sp>
      <p:sp>
        <p:nvSpPr>
          <p:cNvPr id="240" name="Rounded Rectangle 15"/>
          <p:cNvSpPr/>
          <p:nvPr/>
        </p:nvSpPr>
        <p:spPr>
          <a:xfrm>
            <a:off x="8001000" y="1508760"/>
            <a:ext cx="352044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Rectangle 16"/>
          <p:cNvSpPr/>
          <p:nvPr/>
        </p:nvSpPr>
        <p:spPr>
          <a:xfrm>
            <a:off x="8000999" y="1508760"/>
            <a:ext cx="82298" cy="1828801"/>
          </a:xfrm>
          <a:prstGeom prst="rect">
            <a:avLst/>
          </a:prstGeom>
          <a:solidFill>
            <a:srgbClr val="F4B23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TextBox 17"/>
          <p:cNvSpPr txBox="1"/>
          <p:nvPr/>
        </p:nvSpPr>
        <p:spPr>
          <a:xfrm>
            <a:off x="8202168" y="1655062"/>
            <a:ext cx="3154681" cy="314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6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EMERGENCY</a:t>
            </a:r>
          </a:p>
        </p:txBody>
      </p:sp>
      <p:sp>
        <p:nvSpPr>
          <p:cNvPr id="243" name="TextBox 18"/>
          <p:cNvSpPr txBox="1"/>
          <p:nvPr/>
        </p:nvSpPr>
        <p:spPr>
          <a:xfrm>
            <a:off x="8202168" y="2084831"/>
            <a:ext cx="3154681" cy="682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3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Highest-priority event. Proposed response: all-red traffic output and relay activation.</a:t>
            </a:r>
          </a:p>
        </p:txBody>
      </p:sp>
      <p:sp>
        <p:nvSpPr>
          <p:cNvPr id="244" name="TextBox 19"/>
          <p:cNvSpPr txBox="1"/>
          <p:nvPr/>
        </p:nvSpPr>
        <p:spPr>
          <a:xfrm>
            <a:off x="777240" y="3886199"/>
            <a:ext cx="4754880" cy="352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Interrupt design principles</a:t>
            </a:r>
          </a:p>
        </p:txBody>
      </p:sp>
      <p:sp>
        <p:nvSpPr>
          <p:cNvPr id="245" name="TextBox 20"/>
          <p:cNvSpPr txBox="1"/>
          <p:nvPr/>
        </p:nvSpPr>
        <p:spPr>
          <a:xfrm>
            <a:off x="813816" y="4297679"/>
            <a:ext cx="10378440" cy="1025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spcBef>
                <a:spcPts val="900"/>
              </a:spcBef>
              <a:defRPr sz="16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Keep ISRs short: record events, then return.</a:t>
            </a:r>
          </a:p>
          <a:p>
            <a:pPr>
              <a:spcBef>
                <a:spcPts val="900"/>
              </a:spcBef>
              <a:defRPr sz="16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Avoid blocking delays and UART transmission inside interrupts.</a:t>
            </a:r>
          </a:p>
          <a:p>
            <a:pPr>
              <a:spcBef>
                <a:spcPts val="900"/>
              </a:spcBef>
              <a:defRPr sz="16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Use one output-update function to preserve safe lamp combinations.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6F9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2"/>
          <p:cNvSpPr txBox="1"/>
          <p:nvPr/>
        </p:nvSpPr>
        <p:spPr>
          <a:xfrm>
            <a:off x="502919" y="256031"/>
            <a:ext cx="8686801" cy="212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900">
                <a:solidFill>
                  <a:srgbClr val="199C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INTELLIGENT TRAFFIC SIGNAL CONTROLLER</a:t>
            </a:r>
          </a:p>
        </p:txBody>
      </p:sp>
      <p:sp>
        <p:nvSpPr>
          <p:cNvPr id="249" name="TextBox 3"/>
          <p:cNvSpPr txBox="1"/>
          <p:nvPr/>
        </p:nvSpPr>
        <p:spPr>
          <a:xfrm>
            <a:off x="502919" y="566927"/>
            <a:ext cx="11064242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Implementation Workflow</a:t>
            </a:r>
          </a:p>
        </p:txBody>
      </p:sp>
      <p:sp>
        <p:nvSpPr>
          <p:cNvPr id="250" name="Rectangle 4"/>
          <p:cNvSpPr/>
          <p:nvPr/>
        </p:nvSpPr>
        <p:spPr>
          <a:xfrm>
            <a:off x="502919" y="1170432"/>
            <a:ext cx="960121" cy="50293"/>
          </a:xfrm>
          <a:prstGeom prst="rect">
            <a:avLst/>
          </a:prstGeom>
          <a:solidFill>
            <a:srgbClr val="199C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TextBox 5"/>
          <p:cNvSpPr txBox="1"/>
          <p:nvPr/>
        </p:nvSpPr>
        <p:spPr>
          <a:xfrm>
            <a:off x="502919" y="6537959"/>
            <a:ext cx="5486401" cy="200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8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ESD &amp; IoT  •  Project Based Learning</a:t>
            </a:r>
          </a:p>
        </p:txBody>
      </p:sp>
      <p:sp>
        <p:nvSpPr>
          <p:cNvPr id="252" name="TextBox 6"/>
          <p:cNvSpPr txBox="1"/>
          <p:nvPr/>
        </p:nvSpPr>
        <p:spPr>
          <a:xfrm>
            <a:off x="11109959" y="6510528"/>
            <a:ext cx="502920" cy="212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b="1" sz="9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53" name="Rounded Rectangle 7"/>
          <p:cNvSpPr/>
          <p:nvPr/>
        </p:nvSpPr>
        <p:spPr>
          <a:xfrm>
            <a:off x="640080" y="1554480"/>
            <a:ext cx="3474721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Rectangle 8"/>
          <p:cNvSpPr/>
          <p:nvPr/>
        </p:nvSpPr>
        <p:spPr>
          <a:xfrm>
            <a:off x="640080" y="1554480"/>
            <a:ext cx="82297" cy="1417321"/>
          </a:xfrm>
          <a:prstGeom prst="rect">
            <a:avLst/>
          </a:prstGeom>
          <a:solidFill>
            <a:srgbClr val="21689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TextBox 9"/>
          <p:cNvSpPr txBox="1"/>
          <p:nvPr/>
        </p:nvSpPr>
        <p:spPr>
          <a:xfrm>
            <a:off x="841246" y="1700783"/>
            <a:ext cx="3108962" cy="314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6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Configure GPIO</a:t>
            </a:r>
          </a:p>
        </p:txBody>
      </p:sp>
      <p:sp>
        <p:nvSpPr>
          <p:cNvPr id="256" name="TextBox 10"/>
          <p:cNvSpPr txBox="1"/>
          <p:nvPr/>
        </p:nvSpPr>
        <p:spPr>
          <a:xfrm>
            <a:off x="841246" y="2130551"/>
            <a:ext cx="3108962" cy="25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Test each LED independently</a:t>
            </a:r>
          </a:p>
        </p:txBody>
      </p:sp>
      <p:sp>
        <p:nvSpPr>
          <p:cNvPr id="257" name="Oval 11"/>
          <p:cNvSpPr/>
          <p:nvPr/>
        </p:nvSpPr>
        <p:spPr>
          <a:xfrm>
            <a:off x="3611879" y="1664206"/>
            <a:ext cx="347473" cy="347473"/>
          </a:xfrm>
          <a:prstGeom prst="ellipse">
            <a:avLst/>
          </a:prstGeom>
          <a:solidFill>
            <a:srgbClr val="1227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TextBox 12"/>
          <p:cNvSpPr txBox="1"/>
          <p:nvPr/>
        </p:nvSpPr>
        <p:spPr>
          <a:xfrm>
            <a:off x="3611879" y="1691638"/>
            <a:ext cx="347473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59" name="Rounded Rectangle 13"/>
          <p:cNvSpPr/>
          <p:nvPr/>
        </p:nvSpPr>
        <p:spPr>
          <a:xfrm>
            <a:off x="4480559" y="1554480"/>
            <a:ext cx="3474721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Rectangle 14"/>
          <p:cNvSpPr/>
          <p:nvPr/>
        </p:nvSpPr>
        <p:spPr>
          <a:xfrm>
            <a:off x="4480559" y="1554480"/>
            <a:ext cx="82297" cy="1417321"/>
          </a:xfrm>
          <a:prstGeom prst="rect">
            <a:avLst/>
          </a:prstGeom>
          <a:solidFill>
            <a:srgbClr val="199C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TextBox 15"/>
          <p:cNvSpPr txBox="1"/>
          <p:nvPr/>
        </p:nvSpPr>
        <p:spPr>
          <a:xfrm>
            <a:off x="4681728" y="1700783"/>
            <a:ext cx="3108961" cy="314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6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Configure TIM2</a:t>
            </a:r>
          </a:p>
        </p:txBody>
      </p:sp>
      <p:sp>
        <p:nvSpPr>
          <p:cNvPr id="262" name="TextBox 16"/>
          <p:cNvSpPr txBox="1"/>
          <p:nvPr/>
        </p:nvSpPr>
        <p:spPr>
          <a:xfrm>
            <a:off x="4681728" y="2130551"/>
            <a:ext cx="3108961" cy="25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Verify tick with counter/debug output</a:t>
            </a:r>
          </a:p>
        </p:txBody>
      </p:sp>
      <p:sp>
        <p:nvSpPr>
          <p:cNvPr id="263" name="Oval 17"/>
          <p:cNvSpPr/>
          <p:nvPr/>
        </p:nvSpPr>
        <p:spPr>
          <a:xfrm>
            <a:off x="7452359" y="1664206"/>
            <a:ext cx="347473" cy="347473"/>
          </a:xfrm>
          <a:prstGeom prst="ellipse">
            <a:avLst/>
          </a:prstGeom>
          <a:solidFill>
            <a:srgbClr val="1227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18"/>
          <p:cNvSpPr txBox="1"/>
          <p:nvPr/>
        </p:nvSpPr>
        <p:spPr>
          <a:xfrm>
            <a:off x="7452359" y="1691638"/>
            <a:ext cx="347473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65" name="Rounded Rectangle 19"/>
          <p:cNvSpPr/>
          <p:nvPr/>
        </p:nvSpPr>
        <p:spPr>
          <a:xfrm>
            <a:off x="8321040" y="1554480"/>
            <a:ext cx="3474721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Rectangle 20"/>
          <p:cNvSpPr/>
          <p:nvPr/>
        </p:nvSpPr>
        <p:spPr>
          <a:xfrm>
            <a:off x="8321040" y="1554480"/>
            <a:ext cx="82297" cy="1417321"/>
          </a:xfrm>
          <a:prstGeom prst="rect">
            <a:avLst/>
          </a:prstGeom>
          <a:solidFill>
            <a:srgbClr val="F4B23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TextBox 21"/>
          <p:cNvSpPr txBox="1"/>
          <p:nvPr/>
        </p:nvSpPr>
        <p:spPr>
          <a:xfrm>
            <a:off x="8522207" y="1700783"/>
            <a:ext cx="3108961" cy="314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6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Build FSM</a:t>
            </a:r>
          </a:p>
        </p:txBody>
      </p:sp>
      <p:sp>
        <p:nvSpPr>
          <p:cNvPr id="268" name="TextBox 22"/>
          <p:cNvSpPr txBox="1"/>
          <p:nvPr/>
        </p:nvSpPr>
        <p:spPr>
          <a:xfrm>
            <a:off x="8522207" y="2130551"/>
            <a:ext cx="3108961" cy="266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Check RED → GREEN → YELLOW</a:t>
            </a:r>
          </a:p>
        </p:txBody>
      </p:sp>
      <p:sp>
        <p:nvSpPr>
          <p:cNvPr id="269" name="Oval 23"/>
          <p:cNvSpPr/>
          <p:nvPr/>
        </p:nvSpPr>
        <p:spPr>
          <a:xfrm>
            <a:off x="11292840" y="1664206"/>
            <a:ext cx="347473" cy="347473"/>
          </a:xfrm>
          <a:prstGeom prst="ellipse">
            <a:avLst/>
          </a:prstGeom>
          <a:solidFill>
            <a:srgbClr val="1227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TextBox 24"/>
          <p:cNvSpPr txBox="1"/>
          <p:nvPr/>
        </p:nvSpPr>
        <p:spPr>
          <a:xfrm>
            <a:off x="11292840" y="1691638"/>
            <a:ext cx="347473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71" name="Rounded Rectangle 25"/>
          <p:cNvSpPr/>
          <p:nvPr/>
        </p:nvSpPr>
        <p:spPr>
          <a:xfrm>
            <a:off x="640080" y="3520438"/>
            <a:ext cx="3474721" cy="14173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Rectangle 26"/>
          <p:cNvSpPr/>
          <p:nvPr/>
        </p:nvSpPr>
        <p:spPr>
          <a:xfrm>
            <a:off x="640080" y="3520439"/>
            <a:ext cx="82297" cy="1417320"/>
          </a:xfrm>
          <a:prstGeom prst="rect">
            <a:avLst/>
          </a:prstGeom>
          <a:solidFill>
            <a:srgbClr val="DA454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TextBox 27"/>
          <p:cNvSpPr txBox="1"/>
          <p:nvPr/>
        </p:nvSpPr>
        <p:spPr>
          <a:xfrm>
            <a:off x="841246" y="3666744"/>
            <a:ext cx="3108962" cy="314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6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Add EXTI</a:t>
            </a:r>
          </a:p>
        </p:txBody>
      </p:sp>
      <p:sp>
        <p:nvSpPr>
          <p:cNvPr id="274" name="TextBox 28"/>
          <p:cNvSpPr txBox="1"/>
          <p:nvPr/>
        </p:nvSpPr>
        <p:spPr>
          <a:xfrm>
            <a:off x="841246" y="4096510"/>
            <a:ext cx="3108962" cy="25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Latch and debounce button events</a:t>
            </a:r>
          </a:p>
        </p:txBody>
      </p:sp>
      <p:sp>
        <p:nvSpPr>
          <p:cNvPr id="275" name="Oval 29"/>
          <p:cNvSpPr/>
          <p:nvPr/>
        </p:nvSpPr>
        <p:spPr>
          <a:xfrm>
            <a:off x="3611879" y="3630167"/>
            <a:ext cx="347473" cy="347473"/>
          </a:xfrm>
          <a:prstGeom prst="ellipse">
            <a:avLst/>
          </a:prstGeom>
          <a:solidFill>
            <a:srgbClr val="1227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TextBox 30"/>
          <p:cNvSpPr txBox="1"/>
          <p:nvPr/>
        </p:nvSpPr>
        <p:spPr>
          <a:xfrm>
            <a:off x="3611879" y="3657598"/>
            <a:ext cx="347473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77" name="Rounded Rectangle 31"/>
          <p:cNvSpPr/>
          <p:nvPr/>
        </p:nvSpPr>
        <p:spPr>
          <a:xfrm>
            <a:off x="4480559" y="3520438"/>
            <a:ext cx="3474721" cy="14173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Rectangle 32"/>
          <p:cNvSpPr/>
          <p:nvPr/>
        </p:nvSpPr>
        <p:spPr>
          <a:xfrm>
            <a:off x="4480559" y="3520439"/>
            <a:ext cx="82297" cy="1417320"/>
          </a:xfrm>
          <a:prstGeom prst="rect">
            <a:avLst/>
          </a:prstGeom>
          <a:solidFill>
            <a:srgbClr val="2CA8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TextBox 33"/>
          <p:cNvSpPr txBox="1"/>
          <p:nvPr/>
        </p:nvSpPr>
        <p:spPr>
          <a:xfrm>
            <a:off x="4681728" y="3666744"/>
            <a:ext cx="3108961" cy="314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6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Integrate modules</a:t>
            </a:r>
          </a:p>
        </p:txBody>
      </p:sp>
      <p:sp>
        <p:nvSpPr>
          <p:cNvPr id="280" name="TextBox 34"/>
          <p:cNvSpPr txBox="1"/>
          <p:nvPr/>
        </p:nvSpPr>
        <p:spPr>
          <a:xfrm>
            <a:off x="4681728" y="4096510"/>
            <a:ext cx="3108961" cy="25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IR, relay, UART and event priority</a:t>
            </a:r>
          </a:p>
        </p:txBody>
      </p:sp>
      <p:sp>
        <p:nvSpPr>
          <p:cNvPr id="281" name="Oval 35"/>
          <p:cNvSpPr/>
          <p:nvPr/>
        </p:nvSpPr>
        <p:spPr>
          <a:xfrm>
            <a:off x="7452359" y="3630167"/>
            <a:ext cx="347473" cy="347473"/>
          </a:xfrm>
          <a:prstGeom prst="ellipse">
            <a:avLst/>
          </a:prstGeom>
          <a:solidFill>
            <a:srgbClr val="1227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TextBox 36"/>
          <p:cNvSpPr txBox="1"/>
          <p:nvPr/>
        </p:nvSpPr>
        <p:spPr>
          <a:xfrm>
            <a:off x="7452359" y="3657598"/>
            <a:ext cx="347473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83" name="Rounded Rectangle 37"/>
          <p:cNvSpPr/>
          <p:nvPr/>
        </p:nvSpPr>
        <p:spPr>
          <a:xfrm>
            <a:off x="8321040" y="3520438"/>
            <a:ext cx="3474721" cy="14173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Rectangle 38"/>
          <p:cNvSpPr/>
          <p:nvPr/>
        </p:nvSpPr>
        <p:spPr>
          <a:xfrm>
            <a:off x="8321040" y="3520439"/>
            <a:ext cx="82297" cy="1417320"/>
          </a:xfrm>
          <a:prstGeom prst="rect">
            <a:avLst/>
          </a:prstGeom>
          <a:solidFill>
            <a:srgbClr val="21689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TextBox 39"/>
          <p:cNvSpPr txBox="1"/>
          <p:nvPr/>
        </p:nvSpPr>
        <p:spPr>
          <a:xfrm>
            <a:off x="8522207" y="3666744"/>
            <a:ext cx="3108961" cy="314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6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Validate</a:t>
            </a:r>
          </a:p>
        </p:txBody>
      </p:sp>
      <p:sp>
        <p:nvSpPr>
          <p:cNvPr id="286" name="TextBox 40"/>
          <p:cNvSpPr txBox="1"/>
          <p:nvPr/>
        </p:nvSpPr>
        <p:spPr>
          <a:xfrm>
            <a:off x="8522207" y="4096510"/>
            <a:ext cx="3108961" cy="25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Capture timing and functional evidence</a:t>
            </a:r>
          </a:p>
        </p:txBody>
      </p:sp>
      <p:sp>
        <p:nvSpPr>
          <p:cNvPr id="287" name="Oval 41"/>
          <p:cNvSpPr/>
          <p:nvPr/>
        </p:nvSpPr>
        <p:spPr>
          <a:xfrm>
            <a:off x="11292840" y="3630167"/>
            <a:ext cx="347473" cy="347473"/>
          </a:xfrm>
          <a:prstGeom prst="ellipse">
            <a:avLst/>
          </a:prstGeom>
          <a:solidFill>
            <a:srgbClr val="1227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TextBox 42"/>
          <p:cNvSpPr txBox="1"/>
          <p:nvPr/>
        </p:nvSpPr>
        <p:spPr>
          <a:xfrm>
            <a:off x="11292840" y="3657598"/>
            <a:ext cx="347473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89" name="TextBox 43"/>
          <p:cNvSpPr txBox="1"/>
          <p:nvPr/>
        </p:nvSpPr>
        <p:spPr>
          <a:xfrm>
            <a:off x="914399" y="5714999"/>
            <a:ext cx="10332722" cy="28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4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Recommended test order: outputs first, timer second, integrated events last.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6F9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2"/>
          <p:cNvSpPr txBox="1"/>
          <p:nvPr/>
        </p:nvSpPr>
        <p:spPr>
          <a:xfrm>
            <a:off x="502919" y="256031"/>
            <a:ext cx="8686801" cy="212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900">
                <a:solidFill>
                  <a:srgbClr val="199C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INTELLIGENT TRAFFIC SIGNAL CONTROLLER</a:t>
            </a:r>
          </a:p>
        </p:txBody>
      </p:sp>
      <p:sp>
        <p:nvSpPr>
          <p:cNvPr id="293" name="TextBox 3"/>
          <p:cNvSpPr txBox="1"/>
          <p:nvPr/>
        </p:nvSpPr>
        <p:spPr>
          <a:xfrm>
            <a:off x="502919" y="566927"/>
            <a:ext cx="11064242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Prototype &amp; Observed Evidence</a:t>
            </a:r>
          </a:p>
        </p:txBody>
      </p:sp>
      <p:sp>
        <p:nvSpPr>
          <p:cNvPr id="294" name="Rectangle 4"/>
          <p:cNvSpPr/>
          <p:nvPr/>
        </p:nvSpPr>
        <p:spPr>
          <a:xfrm>
            <a:off x="502919" y="1170432"/>
            <a:ext cx="960121" cy="50293"/>
          </a:xfrm>
          <a:prstGeom prst="rect">
            <a:avLst/>
          </a:prstGeom>
          <a:solidFill>
            <a:srgbClr val="199C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TextBox 5"/>
          <p:cNvSpPr txBox="1"/>
          <p:nvPr/>
        </p:nvSpPr>
        <p:spPr>
          <a:xfrm>
            <a:off x="502919" y="6537959"/>
            <a:ext cx="5486401" cy="200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8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ESD &amp; IoT  •  Project Based Learning</a:t>
            </a:r>
          </a:p>
        </p:txBody>
      </p:sp>
      <p:sp>
        <p:nvSpPr>
          <p:cNvPr id="296" name="TextBox 6"/>
          <p:cNvSpPr txBox="1"/>
          <p:nvPr/>
        </p:nvSpPr>
        <p:spPr>
          <a:xfrm>
            <a:off x="11109959" y="6510528"/>
            <a:ext cx="502920" cy="212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b="1" sz="9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97" name="TextBox 10"/>
          <p:cNvSpPr txBox="1"/>
          <p:nvPr/>
        </p:nvSpPr>
        <p:spPr>
          <a:xfrm>
            <a:off x="777239" y="5623559"/>
            <a:ext cx="10607042" cy="28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4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Observed: physical NUCLEO-F103RB setup; red and green LEDs illuminated in separate photos.</a:t>
            </a:r>
          </a:p>
        </p:txBody>
      </p:sp>
      <p:sp>
        <p:nvSpPr>
          <p:cNvPr id="298" name="TextBox 11"/>
          <p:cNvSpPr txBox="1"/>
          <p:nvPr/>
        </p:nvSpPr>
        <p:spPr>
          <a:xfrm>
            <a:off x="777239" y="5989320"/>
            <a:ext cx="10607042" cy="238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sz="11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Photos do not independently prove exact timing, EXTI/NVIC behavior, UART output or relay contact actuation.</a:t>
            </a:r>
          </a:p>
        </p:txBody>
      </p:sp>
      <p:grpSp>
        <p:nvGrpSpPr>
          <p:cNvPr id="301" name="Image Gallery"/>
          <p:cNvGrpSpPr/>
          <p:nvPr/>
        </p:nvGrpSpPr>
        <p:grpSpPr>
          <a:xfrm>
            <a:off x="1184098" y="1435577"/>
            <a:ext cx="4614574" cy="4126893"/>
            <a:chOff x="0" y="0"/>
            <a:chExt cx="4614572" cy="4126891"/>
          </a:xfrm>
        </p:grpSpPr>
        <p:pic>
          <p:nvPicPr>
            <p:cNvPr id="299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14507" t="0" r="14507" b="0"/>
            <a:stretch>
              <a:fillRect/>
            </a:stretch>
          </p:blipFill>
          <p:spPr>
            <a:xfrm>
              <a:off x="0" y="0"/>
              <a:ext cx="4614573" cy="36566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00" name="RED LIGHT"/>
            <p:cNvSpPr/>
            <p:nvPr/>
          </p:nvSpPr>
          <p:spPr>
            <a:xfrm>
              <a:off x="0" y="3732844"/>
              <a:ext cx="4614573" cy="394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>
              <a:lvl1pPr algn="ctr"/>
            </a:lstStyle>
            <a:p>
              <a:pPr/>
              <a:r>
                <a:t>RED LIGHT</a:t>
              </a:r>
            </a:p>
          </p:txBody>
        </p:sp>
      </p:grpSp>
      <p:grpSp>
        <p:nvGrpSpPr>
          <p:cNvPr id="304" name="Image Gallery"/>
          <p:cNvGrpSpPr/>
          <p:nvPr/>
        </p:nvGrpSpPr>
        <p:grpSpPr>
          <a:xfrm>
            <a:off x="6375599" y="1421210"/>
            <a:ext cx="5053766" cy="4155628"/>
            <a:chOff x="0" y="0"/>
            <a:chExt cx="5053764" cy="4155626"/>
          </a:xfrm>
        </p:grpSpPr>
        <p:pic>
          <p:nvPicPr>
            <p:cNvPr id="302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29490" r="0" b="29490"/>
            <a:stretch>
              <a:fillRect/>
            </a:stretch>
          </p:blipFill>
          <p:spPr>
            <a:xfrm>
              <a:off x="0" y="0"/>
              <a:ext cx="5053765" cy="36853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03" name="GREEN LIGHT"/>
            <p:cNvSpPr/>
            <p:nvPr/>
          </p:nvSpPr>
          <p:spPr>
            <a:xfrm>
              <a:off x="0" y="3761579"/>
              <a:ext cx="5053765" cy="394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>
              <a:lvl1pPr algn="ctr"/>
            </a:lstStyle>
            <a:p>
              <a:pPr/>
              <a:r>
                <a:t>GREEN LIGHT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6F9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2"/>
          <p:cNvSpPr txBox="1"/>
          <p:nvPr/>
        </p:nvSpPr>
        <p:spPr>
          <a:xfrm>
            <a:off x="502919" y="256031"/>
            <a:ext cx="8686801" cy="212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900">
                <a:solidFill>
                  <a:srgbClr val="199C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INTELLIGENT TRAFFIC SIGNAL CONTROLLER</a:t>
            </a:r>
          </a:p>
        </p:txBody>
      </p:sp>
      <p:sp>
        <p:nvSpPr>
          <p:cNvPr id="308" name="TextBox 3"/>
          <p:cNvSpPr txBox="1"/>
          <p:nvPr/>
        </p:nvSpPr>
        <p:spPr>
          <a:xfrm>
            <a:off x="502919" y="566927"/>
            <a:ext cx="11064242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Results: What Is Verified vs. Pending</a:t>
            </a:r>
          </a:p>
        </p:txBody>
      </p:sp>
      <p:sp>
        <p:nvSpPr>
          <p:cNvPr id="309" name="Rectangle 4"/>
          <p:cNvSpPr/>
          <p:nvPr/>
        </p:nvSpPr>
        <p:spPr>
          <a:xfrm>
            <a:off x="502919" y="1170432"/>
            <a:ext cx="960121" cy="50293"/>
          </a:xfrm>
          <a:prstGeom prst="rect">
            <a:avLst/>
          </a:prstGeom>
          <a:solidFill>
            <a:srgbClr val="199C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TextBox 5"/>
          <p:cNvSpPr txBox="1"/>
          <p:nvPr/>
        </p:nvSpPr>
        <p:spPr>
          <a:xfrm>
            <a:off x="502919" y="6537959"/>
            <a:ext cx="5486401" cy="200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8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ESD &amp; IoT  •  Project Based Learning</a:t>
            </a:r>
          </a:p>
        </p:txBody>
      </p:sp>
      <p:sp>
        <p:nvSpPr>
          <p:cNvPr id="311" name="TextBox 6"/>
          <p:cNvSpPr txBox="1"/>
          <p:nvPr/>
        </p:nvSpPr>
        <p:spPr>
          <a:xfrm>
            <a:off x="11109959" y="6510528"/>
            <a:ext cx="502920" cy="212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b="1" sz="9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12" name="Rounded Rectangle 7"/>
          <p:cNvSpPr/>
          <p:nvPr/>
        </p:nvSpPr>
        <p:spPr>
          <a:xfrm>
            <a:off x="685800" y="1508760"/>
            <a:ext cx="5212080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Rectangle 8"/>
          <p:cNvSpPr/>
          <p:nvPr/>
        </p:nvSpPr>
        <p:spPr>
          <a:xfrm>
            <a:off x="685799" y="1508760"/>
            <a:ext cx="82298" cy="1965961"/>
          </a:xfrm>
          <a:prstGeom prst="rect">
            <a:avLst/>
          </a:prstGeom>
          <a:solidFill>
            <a:srgbClr val="2CA8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9"/>
          <p:cNvSpPr txBox="1"/>
          <p:nvPr/>
        </p:nvSpPr>
        <p:spPr>
          <a:xfrm>
            <a:off x="886967" y="1655062"/>
            <a:ext cx="4846321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OBSERVED / SUPPORTED</a:t>
            </a:r>
          </a:p>
        </p:txBody>
      </p:sp>
      <p:sp>
        <p:nvSpPr>
          <p:cNvPr id="315" name="TextBox 10"/>
          <p:cNvSpPr txBox="1"/>
          <p:nvPr/>
        </p:nvSpPr>
        <p:spPr>
          <a:xfrm>
            <a:off x="886967" y="2084831"/>
            <a:ext cx="4846321" cy="758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defRPr sz="15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Hardware assembled and powered</a:t>
            </a:r>
          </a:p>
          <a:p>
            <a:pPr>
              <a:defRPr sz="15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Red LED visibly illuminated</a:t>
            </a:r>
          </a:p>
          <a:p>
            <a:pPr>
              <a:defRPr sz="15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Green LED visibly illuminated</a:t>
            </a:r>
          </a:p>
        </p:txBody>
      </p:sp>
      <p:sp>
        <p:nvSpPr>
          <p:cNvPr id="316" name="Rounded Rectangle 11"/>
          <p:cNvSpPr/>
          <p:nvPr/>
        </p:nvSpPr>
        <p:spPr>
          <a:xfrm>
            <a:off x="6263640" y="1508760"/>
            <a:ext cx="521208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5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Rectangle 12"/>
          <p:cNvSpPr/>
          <p:nvPr/>
        </p:nvSpPr>
        <p:spPr>
          <a:xfrm>
            <a:off x="6263640" y="1508760"/>
            <a:ext cx="82297" cy="1965961"/>
          </a:xfrm>
          <a:prstGeom prst="rect">
            <a:avLst/>
          </a:prstGeom>
          <a:solidFill>
            <a:srgbClr val="F4B23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TextBox 13"/>
          <p:cNvSpPr txBox="1"/>
          <p:nvPr/>
        </p:nvSpPr>
        <p:spPr>
          <a:xfrm>
            <a:off x="6464806" y="1655062"/>
            <a:ext cx="4846321" cy="32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NEEDS VERIFICATION</a:t>
            </a:r>
          </a:p>
        </p:txBody>
      </p:sp>
      <p:sp>
        <p:nvSpPr>
          <p:cNvPr id="319" name="TextBox 14"/>
          <p:cNvSpPr txBox="1"/>
          <p:nvPr/>
        </p:nvSpPr>
        <p:spPr>
          <a:xfrm>
            <a:off x="6464806" y="2084831"/>
            <a:ext cx="4846321" cy="936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defRPr sz="14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5 / 5 / 2 s timing trace</a:t>
            </a:r>
          </a:p>
          <a:p>
            <a:pPr>
              <a:defRPr sz="14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Pedestrian EXTI and debounce</a:t>
            </a:r>
          </a:p>
          <a:p>
            <a:pPr>
              <a:defRPr sz="14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IR detection polarity and response</a:t>
            </a:r>
          </a:p>
          <a:p>
            <a:pPr>
              <a:defRPr sz="14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Relay contact switching and UART log</a:t>
            </a:r>
          </a:p>
        </p:txBody>
      </p:sp>
      <p:sp>
        <p:nvSpPr>
          <p:cNvPr id="320" name="TextBox 15"/>
          <p:cNvSpPr txBox="1"/>
          <p:nvPr/>
        </p:nvSpPr>
        <p:spPr>
          <a:xfrm>
            <a:off x="777240" y="4069079"/>
            <a:ext cx="2743201" cy="352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Evidence standard</a:t>
            </a:r>
          </a:p>
        </p:txBody>
      </p:sp>
      <p:sp>
        <p:nvSpPr>
          <p:cNvPr id="321" name="TextBox 16"/>
          <p:cNvSpPr txBox="1"/>
          <p:nvPr/>
        </p:nvSpPr>
        <p:spPr>
          <a:xfrm>
            <a:off x="813816" y="4480559"/>
            <a:ext cx="10469881" cy="1025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spcBef>
                <a:spcPts val="900"/>
              </a:spcBef>
              <a:defRPr sz="16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Use timestamped UART logs or an oscilloscope/logic analyzer for timing.</a:t>
            </a:r>
          </a:p>
          <a:p>
            <a:pPr>
              <a:spcBef>
                <a:spcPts val="900"/>
              </a:spcBef>
              <a:defRPr sz="16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Test emergency preemption while a normal state is active.</a:t>
            </a:r>
          </a:p>
          <a:p>
            <a:pPr>
              <a:spcBef>
                <a:spcPts val="900"/>
              </a:spcBef>
              <a:defRPr sz="1600">
                <a:solidFill>
                  <a:srgbClr val="23303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 Complete the actual pin map from the project .ioc file.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Box 2"/>
          <p:cNvSpPr txBox="1"/>
          <p:nvPr/>
        </p:nvSpPr>
        <p:spPr>
          <a:xfrm>
            <a:off x="502919" y="256031"/>
            <a:ext cx="8686801" cy="212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900">
                <a:solidFill>
                  <a:srgbClr val="199C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INTELLIGENT TRAFFIC SIGNAL CONTROLLER</a:t>
            </a:r>
          </a:p>
        </p:txBody>
      </p:sp>
      <p:sp>
        <p:nvSpPr>
          <p:cNvPr id="324" name="TextBox 3"/>
          <p:cNvSpPr txBox="1"/>
          <p:nvPr/>
        </p:nvSpPr>
        <p:spPr>
          <a:xfrm>
            <a:off x="502919" y="566927"/>
            <a:ext cx="11064242" cy="479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Conclusion </a:t>
            </a:r>
          </a:p>
        </p:txBody>
      </p:sp>
      <p:sp>
        <p:nvSpPr>
          <p:cNvPr id="325" name="Rectangle 4"/>
          <p:cNvSpPr/>
          <p:nvPr/>
        </p:nvSpPr>
        <p:spPr>
          <a:xfrm>
            <a:off x="502919" y="1170432"/>
            <a:ext cx="960121" cy="50293"/>
          </a:xfrm>
          <a:prstGeom prst="rect">
            <a:avLst/>
          </a:prstGeom>
          <a:solidFill>
            <a:srgbClr val="199C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TextBox 5"/>
          <p:cNvSpPr txBox="1"/>
          <p:nvPr/>
        </p:nvSpPr>
        <p:spPr>
          <a:xfrm>
            <a:off x="502919" y="6537959"/>
            <a:ext cx="5486401" cy="200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8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ESD &amp; IoT  •  Project Based Learning</a:t>
            </a:r>
          </a:p>
        </p:txBody>
      </p:sp>
      <p:sp>
        <p:nvSpPr>
          <p:cNvPr id="327" name="TextBox 6"/>
          <p:cNvSpPr txBox="1"/>
          <p:nvPr/>
        </p:nvSpPr>
        <p:spPr>
          <a:xfrm>
            <a:off x="11109959" y="6510528"/>
            <a:ext cx="502920" cy="212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b="1" sz="900">
                <a:solidFill>
                  <a:srgbClr val="5D6F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28" name="TextBox 7"/>
          <p:cNvSpPr txBox="1"/>
          <p:nvPr/>
        </p:nvSpPr>
        <p:spPr>
          <a:xfrm>
            <a:off x="518470" y="1461415"/>
            <a:ext cx="2194562" cy="352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>
                <a:solidFill>
                  <a:srgbClr val="199C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Key takeaway</a:t>
            </a:r>
          </a:p>
        </p:txBody>
      </p:sp>
      <p:sp>
        <p:nvSpPr>
          <p:cNvPr id="329" name="TextBox 8"/>
          <p:cNvSpPr txBox="1"/>
          <p:nvPr/>
        </p:nvSpPr>
        <p:spPr>
          <a:xfrm>
            <a:off x="512276" y="1922272"/>
            <a:ext cx="10515601" cy="784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300">
                <a:solidFill>
                  <a:srgbClr val="12273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timer-driven finite-state machine provides a structured foundation for responsive, event-driven traffic control.</a:t>
            </a:r>
          </a:p>
        </p:txBody>
      </p:sp>
      <p:sp>
        <p:nvSpPr>
          <p:cNvPr id="330" name="TextBox 21"/>
          <p:cNvSpPr txBox="1"/>
          <p:nvPr/>
        </p:nvSpPr>
        <p:spPr>
          <a:xfrm>
            <a:off x="914399" y="5623559"/>
            <a:ext cx="10332722" cy="28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400">
                <a:solidFill>
                  <a:srgbClr val="DA454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Educational prototype only — not intended for deployment on public roads.</a:t>
            </a:r>
          </a:p>
        </p:txBody>
      </p:sp>
      <p:sp>
        <p:nvSpPr>
          <p:cNvPr id="331" name="THANK YOU"/>
          <p:cNvSpPr txBox="1"/>
          <p:nvPr/>
        </p:nvSpPr>
        <p:spPr>
          <a:xfrm>
            <a:off x="3933494" y="3889767"/>
            <a:ext cx="4312312" cy="81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5600">
                <a:latin typeface="Copperplate"/>
                <a:ea typeface="Copperplate"/>
                <a:cs typeface="Copperplate"/>
                <a:sym typeface="Copperplate"/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